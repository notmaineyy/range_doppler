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A44"/>
                </a:solidFill>
              </a:defRPr>
            </a:pPr>
            <a:r>
              <a:t>SAR Range-Doppler Explorer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Range, azimuth and Doppler in a Synthetic Aperture Radar image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Task 1 - interactive simulation (range_doppler_interactive.py)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What is SAR?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SAR = Synthetic Aperture Radar: a radar on a moving platform images the ground.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A small antenna is moved along a path; the many echoes are combined to act like one very long antenna - a 'synthetic aperture'.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The radar sends short frequency-swept pulses (chirps) and listens for echoes.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Echo delay gives distance (range); the changing echo frequency (Doppler) from motion gives the along-track position (azimuth).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Result: a two-dimensional image that works day or night and through clouds.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Two dimensions of a SAR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Range (cross-track):</a:t>
            </a:r>
          </a:p>
          <a:p>
            <a:pPr lvl="1"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measured from echo delay, R = c*tau/2</a:t>
            </a:r>
          </a:p>
          <a:p>
            <a:pPr lvl="1"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clarity set by bandwidth B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Azimuth (along-track):</a:t>
            </a:r>
          </a:p>
          <a:p>
            <a:pPr lvl="1"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measured from Doppler history</a:t>
            </a:r>
          </a:p>
          <a:p>
            <a:pPr lvl="1"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clarity set by antenna length La</a:t>
            </a:r>
          </a:p>
        </p:txBody>
      </p:sp>
      <p:pic>
        <p:nvPicPr>
          <p:cNvPr id="4" name="Picture 3" descr="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7863840" cy="4466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What the interactive explorer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Simulates a single point target and processes it with the Range-Doppler Algorithm.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Left panel: the Range-Doppler map (range vs Doppler frequency).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Right panel: the fully compressed SAR image (range vs azimuth).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Five sliders + one checkbox update both panels live (~12 frames/second).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Live read-out: dR, rho_az, f_dc, Bd, Na.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Press 'r' or click Reset to return to defaults.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The processing chain (methodology)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1. Build the raw echo in slow-time x fast-time.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2. Range compression (matched filter).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3. FFT along azimuth -&gt; Range-Doppler map.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4. Azimuth matched filter (in Doppler domain).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5. Display in dB.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786384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Baseline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A point target focuses to a bright spot.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Range-Doppler map: energy in a narrow Doppler band at R0.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Compressed image: one sharp point at (R0, x0).</a:t>
            </a:r>
          </a:p>
        </p:txBody>
      </p:sp>
      <p:pic>
        <p:nvPicPr>
          <p:cNvPr id="4" name="Picture 3" descr="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7863840" cy="30102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Variable 1 - Bandwidth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Range resolution dR = c / (2B).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Wider B -&gt; narrower mainlobe -&gt; sharper in range.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Target POSITION does not move: peak stays at R0.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Clarity only, not position.</a:t>
            </a:r>
          </a:p>
        </p:txBody>
      </p:sp>
      <p:pic>
        <p:nvPicPr>
          <p:cNvPr id="4" name="Picture 3" descr="band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7863840" cy="24111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Variable 2 - Radial velocity vr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Doppler centroid f_dc = 2 vr / lambda.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Shifts the target along the Doppler axis.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Also causes range walk (vr * Ta).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Uncompensated -&gt; azimuth position error and smearing.</a:t>
            </a:r>
          </a:p>
        </p:txBody>
      </p:sp>
      <p:pic>
        <p:nvPicPr>
          <p:cNvPr id="4" name="Picture 3" descr="rad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7863840" cy="24036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Variable 3 - Antenna length 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Azimuth resolution rho_az = La / 2.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Doppler bandwidth Bd = 2 vp / La.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Shorter antenna -&gt; wider beam -&gt; finer azimuth resolution.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Target POSITION does not move: peak stays at x0.</a:t>
            </a:r>
          </a:p>
        </p:txBody>
      </p:sp>
      <p:pic>
        <p:nvPicPr>
          <p:cNvPr id="4" name="Picture 3" descr="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7863840" cy="24111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Variable 4 - Target along-track velocity vt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A moving target's Doppler rate differs from the stationary filter.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Phase mismatch -&gt; azimuth defocus (smeared, lower peak).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Clarity loss; position roughly unchanged.</a:t>
            </a:r>
          </a:p>
        </p:txBody>
      </p:sp>
      <p:pic>
        <p:nvPicPr>
          <p:cNvPr id="4" name="Picture 3" descr="along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7863840" cy="23950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Variable 5 - SNR and speckle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Low SNR -&gt; noise floor rises, target buried.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Speckle = multiplicative Rayleigh noise (grainy texture).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Both reduce detectability / clarity.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Position unaffected.</a:t>
            </a:r>
          </a:p>
        </p:txBody>
      </p:sp>
      <p:pic>
        <p:nvPicPr>
          <p:cNvPr id="4" name="Picture 3" descr="snr_speck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7863840" cy="56906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Results at a glance: what affects clarity vs position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486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Affects clarity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Affects position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formula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Bandwidth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Range clarity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dR = c / 2B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Radial velocity vr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Defocus if large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Doppler / azimuth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f_dc = 2vr/lambda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Antenna length 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Azimuth clarity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rho_az = La/2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Along-track velocity vt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Azimuth defocus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~No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Doppler-rate mismatch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SNR / speckle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Detectability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noise floor / Rayleigh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Cheat sheet: the equations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F2A44"/>
                </a:solidFill>
              </a:defRPr>
            </a:pPr>
            <a:r>
              <a:t>Range resolution:            dR = c / (2B)</a:t>
            </a:r>
          </a:p>
          <a:p>
            <a:pPr>
              <a:spcAft>
                <a:spcPts val="600"/>
              </a:spcAft>
              <a:defRPr sz="1900">
                <a:solidFill>
                  <a:srgbClr val="1F2A44"/>
                </a:solidFill>
              </a:defRPr>
            </a:pPr>
            <a:r>
              <a:t>Azimuth resolution:          rho_az = La / 2</a:t>
            </a:r>
          </a:p>
          <a:p>
            <a:pPr>
              <a:spcAft>
                <a:spcPts val="600"/>
              </a:spcAft>
              <a:defRPr sz="1900">
                <a:solidFill>
                  <a:srgbClr val="1F2A44"/>
                </a:solidFill>
              </a:defRPr>
            </a:pPr>
            <a:r>
              <a:t>Doppler bandwidth:           Bd = 2 vp / La</a:t>
            </a:r>
          </a:p>
          <a:p>
            <a:pPr>
              <a:spcAft>
                <a:spcPts val="600"/>
              </a:spcAft>
              <a:defRPr sz="1900">
                <a:solidFill>
                  <a:srgbClr val="1F2A44"/>
                </a:solidFill>
              </a:defRPr>
            </a:pPr>
            <a:r>
              <a:t>Doppler rate:                fR = 2 vp^2 / (lambda R0)</a:t>
            </a:r>
          </a:p>
          <a:p>
            <a:pPr>
              <a:spcAft>
                <a:spcPts val="600"/>
              </a:spcAft>
              <a:defRPr sz="1900">
                <a:solidFill>
                  <a:srgbClr val="1F2A44"/>
                </a:solidFill>
              </a:defRPr>
            </a:pPr>
            <a:r>
              <a:t>Doppler centroid (moving):   f_dc = 2 vr / lambda</a:t>
            </a:r>
          </a:p>
          <a:p>
            <a:pPr>
              <a:spcAft>
                <a:spcPts val="600"/>
              </a:spcAft>
              <a:defRPr sz="1900">
                <a:solidFill>
                  <a:srgbClr val="1F2A44"/>
                </a:solidFill>
              </a:defRPr>
            </a:pPr>
            <a:r>
              <a:t>Synthetic aperture time:     Ta = R0 * theta / vp,  theta = lambda / La</a:t>
            </a:r>
          </a:p>
          <a:p>
            <a:pPr>
              <a:spcAft>
                <a:spcPts val="600"/>
              </a:spcAft>
              <a:defRPr sz="1900">
                <a:solidFill>
                  <a:srgbClr val="1F2A44"/>
                </a:solidFill>
              </a:defRPr>
            </a:pPr>
            <a:r>
              <a:t>Range to target:             R = c * tau /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Glossary of SAR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Range - distance to target, from echo delay.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Azimuth / cross-range - along-track position, from Doppler.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Slant range R0 - straight-line distance from radar to target.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Chirp - a pulse whose frequency sweeps over time.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Pulse / range compression - matched filtering that sharpens echoes in range.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Doppler history - the changing echo frequency as the platform passes the target.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Doppler centroid - the mean Doppler shift (zero for a still target broadside).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Synthetic aperture - the long effective antenna formed by platform motion.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PRF - pulses per second; must be high enough to sample the Doppler.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RDA (Range-Doppler Algorithm) - process range first, then azimuth via Doppler.</a:t>
            </a:r>
          </a:p>
          <a:p>
            <a:pPr>
              <a:spcAft>
                <a:spcPts val="600"/>
              </a:spcAft>
              <a:defRPr sz="1400">
                <a:solidFill>
                  <a:srgbClr val="1F2A44"/>
                </a:solidFill>
              </a:defRPr>
            </a:pPr>
            <a:r>
              <a:t>Speckle - grainy noise from many small scatterers in one resolution cell.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Key takeaways &amp; how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Range clarity is set by BANDWIDTH; azimuth clarity by ANTENNA LENGTH.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Radial velocity moves the target's Doppler/azimuth POSITION; large values defocus.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Along-track velocity and noise degrade CLARITY, not position.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The app applies the azimuth filter in the Doppler domain (the RDA), keeping updates real-time.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Run it:  .venv/bin/python range_doppler_interactive.py</a:t>
            </a:r>
          </a:p>
          <a:p>
            <a:pPr>
              <a:spcAft>
                <a:spcPts val="600"/>
              </a:spcAft>
              <a:defRPr sz="1800">
                <a:solidFill>
                  <a:srgbClr val="1F2A44"/>
                </a:solidFill>
              </a:defRPr>
            </a:pPr>
            <a:r>
              <a:t>Web version:  .venv/bin/streamlit run 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