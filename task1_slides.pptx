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1097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F2A44"/>
                </a:solidFill>
              </a:defRPr>
            </a:pPr>
            <a:r>
              <a:t>SAR Range-Doppler Explorer</a:t>
            </a:r>
          </a:p>
          <a:p>
            <a:pPr>
              <a:defRPr sz="2000">
                <a:solidFill>
                  <a:srgbClr val="555555"/>
                </a:solidFill>
              </a:defRPr>
            </a:pPr>
            <a:r>
              <a:t>Range, azimuth and Doppler in a Synthetic Aperture Radar image</a:t>
            </a:r>
          </a:p>
          <a:p>
            <a:pPr>
              <a:defRPr sz="1400">
                <a:solidFill>
                  <a:srgbClr val="555555"/>
                </a:solidFill>
              </a:defRPr>
            </a:pPr>
            <a:r>
              <a:t>Task 1 - interactive simulation (range_doppler_interactive.py)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4"/>
                </a:solidFill>
              </a:defRPr>
            </a:pPr>
            <a:r>
              <a:t>What is SAR?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F2A44"/>
                </a:solidFill>
              </a:defRPr>
            </a:pPr>
            <a:r>
              <a:t>SAR = Synthetic Aperture Radar: a radar on a moving platform images the ground.</a:t>
            </a:r>
          </a:p>
          <a:p>
            <a:pPr lvl="1">
              <a:spcAft>
                <a:spcPts val="600"/>
              </a:spcAft>
              <a:defRPr sz="1600">
                <a:solidFill>
                  <a:srgbClr val="555555"/>
                </a:solidFill>
              </a:defRPr>
            </a:pPr>
            <a:r>
              <a:t>A small antenna is moved along a path; the many echoes are combined to act like one very long antenna - a 'synthetic aperture'.</a:t>
            </a:r>
          </a:p>
          <a:p>
            <a:pPr>
              <a:spcAft>
                <a:spcPts val="600"/>
              </a:spcAft>
              <a:defRPr sz="1800">
                <a:solidFill>
                  <a:srgbClr val="1F2A44"/>
                </a:solidFill>
              </a:defRPr>
            </a:pPr>
            <a:r>
              <a:t>The radar sends short frequency-swept pulses (chirps) and listens for echoes.</a:t>
            </a:r>
          </a:p>
          <a:p>
            <a:pPr>
              <a:spcAft>
                <a:spcPts val="600"/>
              </a:spcAft>
              <a:defRPr sz="1800">
                <a:solidFill>
                  <a:srgbClr val="1F2A44"/>
                </a:solidFill>
              </a:defRPr>
            </a:pPr>
            <a:r>
              <a:t>Echo delay gives distance (range); the changing echo frequency (Doppler) from motion gives the along-track position (azimuth).</a:t>
            </a:r>
          </a:p>
          <a:p>
            <a:pPr>
              <a:spcAft>
                <a:spcPts val="600"/>
              </a:spcAft>
              <a:defRPr sz="1800">
                <a:solidFill>
                  <a:srgbClr val="1F2A44"/>
                </a:solidFill>
              </a:defRPr>
            </a:pPr>
            <a:r>
              <a:t>Result: a two-dimensional image that works day or night and through clouds.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4"/>
                </a:solidFill>
              </a:defRPr>
            </a:pPr>
            <a:r>
              <a:t>Two dimensions of a SAR image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3383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F2A44"/>
                </a:solidFill>
              </a:defRPr>
            </a:pPr>
            <a:r>
              <a:t>Range (cross-track):</a:t>
            </a:r>
          </a:p>
          <a:p>
            <a:pPr lvl="1">
              <a:spcAft>
                <a:spcPts val="600"/>
              </a:spcAft>
              <a:defRPr sz="1200">
                <a:solidFill>
                  <a:srgbClr val="555555"/>
                </a:solidFill>
              </a:defRPr>
            </a:pPr>
            <a:r>
              <a:t>measured from echo delay, R = c*tau/2</a:t>
            </a:r>
          </a:p>
          <a:p>
            <a:pPr lvl="1">
              <a:spcAft>
                <a:spcPts val="600"/>
              </a:spcAft>
              <a:defRPr sz="1200">
                <a:solidFill>
                  <a:srgbClr val="555555"/>
                </a:solidFill>
              </a:defRPr>
            </a:pPr>
            <a:r>
              <a:t>clarity set by bandwidth B</a:t>
            </a:r>
          </a:p>
          <a:p>
            <a:pPr>
              <a:spcAft>
                <a:spcPts val="600"/>
              </a:spcAft>
              <a:defRPr sz="1400">
                <a:solidFill>
                  <a:srgbClr val="1F2A44"/>
                </a:solidFill>
              </a:defRPr>
            </a:pPr>
            <a:r>
              <a:t>Azimuth (along-track):</a:t>
            </a:r>
          </a:p>
          <a:p>
            <a:pPr lvl="1">
              <a:spcAft>
                <a:spcPts val="600"/>
              </a:spcAft>
              <a:defRPr sz="1200">
                <a:solidFill>
                  <a:srgbClr val="555555"/>
                </a:solidFill>
              </a:defRPr>
            </a:pPr>
            <a:r>
              <a:t>measured from Doppler history</a:t>
            </a:r>
          </a:p>
          <a:p>
            <a:pPr lvl="1">
              <a:spcAft>
                <a:spcPts val="600"/>
              </a:spcAft>
              <a:defRPr sz="1200">
                <a:solidFill>
                  <a:srgbClr val="555555"/>
                </a:solidFill>
              </a:defRPr>
            </a:pPr>
            <a:r>
              <a:t>clarity set by antenna length La</a:t>
            </a:r>
          </a:p>
        </p:txBody>
      </p:sp>
      <p:pic>
        <p:nvPicPr>
          <p:cNvPr id="4" name="Picture 3" descr="geo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371600"/>
            <a:ext cx="7863840" cy="446613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4"/>
                </a:solidFill>
              </a:defRPr>
            </a:pPr>
            <a:r>
              <a:t>What the interactive explorer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F2A44"/>
                </a:solidFill>
              </a:defRPr>
            </a:pPr>
            <a:r>
              <a:t>Simulates a single point target and processes it with the Range-Doppler Algorithm.</a:t>
            </a:r>
          </a:p>
          <a:p>
            <a:pPr>
              <a:spcAft>
                <a:spcPts val="600"/>
              </a:spcAft>
              <a:defRPr sz="1800">
                <a:solidFill>
                  <a:srgbClr val="1F2A44"/>
                </a:solidFill>
              </a:defRPr>
            </a:pPr>
            <a:r>
              <a:t>Left panel: the Range-Doppler map (range vs Doppler frequency).</a:t>
            </a:r>
          </a:p>
          <a:p>
            <a:pPr>
              <a:spcAft>
                <a:spcPts val="600"/>
              </a:spcAft>
              <a:defRPr sz="1800">
                <a:solidFill>
                  <a:srgbClr val="1F2A44"/>
                </a:solidFill>
              </a:defRPr>
            </a:pPr>
            <a:r>
              <a:t>Right panel: the fully compressed SAR image (range vs azimuth).</a:t>
            </a:r>
          </a:p>
          <a:p>
            <a:pPr>
              <a:spcAft>
                <a:spcPts val="600"/>
              </a:spcAft>
              <a:defRPr sz="1800">
                <a:solidFill>
                  <a:srgbClr val="1F2A44"/>
                </a:solidFill>
              </a:defRPr>
            </a:pPr>
            <a:r>
              <a:t>Six sliders + one checkbox update both panels live (~12 frames/second).</a:t>
            </a:r>
          </a:p>
          <a:p>
            <a:pPr>
              <a:spcAft>
                <a:spcPts val="600"/>
              </a:spcAft>
              <a:defRPr sz="1800">
                <a:solidFill>
                  <a:srgbClr val="1F2A44"/>
                </a:solidFill>
              </a:defRPr>
            </a:pPr>
            <a:r>
              <a:t>Sliders: bandwidth, radial velocity, antenna length, along-track velocity,</a:t>
            </a:r>
          </a:p>
          <a:p>
            <a:pPr lvl="1">
              <a:spcAft>
                <a:spcPts val="600"/>
              </a:spcAft>
              <a:defRPr sz="1600">
                <a:solidFill>
                  <a:srgbClr val="555555"/>
                </a:solidFill>
              </a:defRPr>
            </a:pPr>
            <a:r>
              <a:t>processed aperture, SNR. Checkbox: speckle.</a:t>
            </a:r>
          </a:p>
          <a:p>
            <a:pPr>
              <a:spcAft>
                <a:spcPts val="600"/>
              </a:spcAft>
              <a:defRPr sz="1800">
                <a:solidFill>
                  <a:srgbClr val="1F2A44"/>
                </a:solidFill>
              </a:defRPr>
            </a:pPr>
            <a:r>
              <a:t>Live read-out: dR, rho_az (with broadening factors), f_dc, Bd, Na.</a:t>
            </a:r>
          </a:p>
          <a:p>
            <a:pPr>
              <a:spcAft>
                <a:spcPts val="600"/>
              </a:spcAft>
              <a:defRPr sz="1800">
                <a:solidFill>
                  <a:srgbClr val="1F2A44"/>
                </a:solidFill>
              </a:defRPr>
            </a:pPr>
            <a:r>
              <a:t>Press 'r' or click Reset to return to defaults.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4"/>
                </a:solidFill>
              </a:defRPr>
            </a:pPr>
            <a:r>
              <a:t>The processing chain (methodology)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3383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F2A44"/>
                </a:solidFill>
              </a:defRPr>
            </a:pPr>
            <a:r>
              <a:t>1. Build the raw echo in slow-time x fast-time.</a:t>
            </a:r>
          </a:p>
          <a:p>
            <a:pPr>
              <a:spcAft>
                <a:spcPts val="600"/>
              </a:spcAft>
              <a:defRPr sz="1400">
                <a:solidFill>
                  <a:srgbClr val="1F2A44"/>
                </a:solidFill>
              </a:defRPr>
            </a:pPr>
            <a:r>
              <a:t>2. Range compression (matched filter).</a:t>
            </a:r>
          </a:p>
          <a:p>
            <a:pPr>
              <a:spcAft>
                <a:spcPts val="600"/>
              </a:spcAft>
              <a:defRPr sz="1400">
                <a:solidFill>
                  <a:srgbClr val="1F2A44"/>
                </a:solidFill>
              </a:defRPr>
            </a:pPr>
            <a:r>
              <a:t>3. FFT along azimuth -&gt; Range-Doppler map.</a:t>
            </a:r>
          </a:p>
          <a:p>
            <a:pPr>
              <a:spcAft>
                <a:spcPts val="600"/>
              </a:spcAft>
              <a:defRPr sz="1400">
                <a:solidFill>
                  <a:srgbClr val="1F2A44"/>
                </a:solidFill>
              </a:defRPr>
            </a:pPr>
            <a:r>
              <a:t>4. Azimuth matched filter (in Doppler domain).</a:t>
            </a:r>
          </a:p>
          <a:p>
            <a:pPr>
              <a:spcAft>
                <a:spcPts val="600"/>
              </a:spcAft>
              <a:defRPr sz="1400">
                <a:solidFill>
                  <a:srgbClr val="1F2A44"/>
                </a:solidFill>
              </a:defRPr>
            </a:pPr>
            <a:r>
              <a:t>5. Display in dB.</a:t>
            </a:r>
          </a:p>
        </p:txBody>
      </p:sp>
      <p:pic>
        <p:nvPicPr>
          <p:cNvPr id="4" name="Picture 3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371600"/>
            <a:ext cx="7863840" cy="1524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4"/>
                </a:solidFill>
              </a:defRPr>
            </a:pPr>
            <a:r>
              <a:t>Baseline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3383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F2A44"/>
                </a:solidFill>
              </a:defRPr>
            </a:pPr>
            <a:r>
              <a:t>A point target focuses to a bright spot.</a:t>
            </a:r>
          </a:p>
          <a:p>
            <a:pPr>
              <a:spcAft>
                <a:spcPts val="600"/>
              </a:spcAft>
              <a:defRPr sz="1400">
                <a:solidFill>
                  <a:srgbClr val="1F2A44"/>
                </a:solidFill>
              </a:defRPr>
            </a:pPr>
            <a:r>
              <a:t>Range-Doppler map: energy in a narrow Doppler band at R0.</a:t>
            </a:r>
          </a:p>
          <a:p>
            <a:pPr>
              <a:spcAft>
                <a:spcPts val="600"/>
              </a:spcAft>
              <a:defRPr sz="1400">
                <a:solidFill>
                  <a:srgbClr val="1F2A44"/>
                </a:solidFill>
              </a:defRPr>
            </a:pPr>
            <a:r>
              <a:t>Compressed image: one sharp point at (R0, x0).</a:t>
            </a:r>
          </a:p>
        </p:txBody>
      </p:sp>
      <p:pic>
        <p:nvPicPr>
          <p:cNvPr id="4" name="Picture 3" descr="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371600"/>
            <a:ext cx="7863840" cy="301027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4"/>
                </a:solidFill>
              </a:defRPr>
            </a:pPr>
            <a:r>
              <a:t>Variable 1 - Bandwidth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3383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F2A44"/>
                </a:solidFill>
              </a:defRPr>
            </a:pPr>
            <a:r>
              <a:t>Slant-range resolution dR = c * b_r / (2B).</a:t>
            </a:r>
          </a:p>
          <a:p>
            <a:pPr>
              <a:spcAft>
                <a:spcPts val="600"/>
              </a:spcAft>
              <a:defRPr sz="1400">
                <a:solidFill>
                  <a:srgbClr val="1F2A44"/>
                </a:solidFill>
              </a:defRPr>
            </a:pPr>
            <a:r>
              <a:t>b_r = range IPR windowing broadening factor (1.0 rect, ~1.3 Hann).</a:t>
            </a:r>
          </a:p>
          <a:p>
            <a:pPr>
              <a:spcAft>
                <a:spcPts val="600"/>
              </a:spcAft>
              <a:defRPr sz="1400">
                <a:solidFill>
                  <a:srgbClr val="1F2A44"/>
                </a:solidFill>
              </a:defRPr>
            </a:pPr>
            <a:r>
              <a:t>Wider B -&gt; narrower mainlobe -&gt; sharper in range.</a:t>
            </a:r>
          </a:p>
          <a:p>
            <a:pPr>
              <a:spcAft>
                <a:spcPts val="600"/>
              </a:spcAft>
              <a:defRPr sz="1400">
                <a:solidFill>
                  <a:srgbClr val="1F2A44"/>
                </a:solidFill>
              </a:defRPr>
            </a:pPr>
            <a:r>
              <a:t>Target POSITION does not move: peak stays at R0.</a:t>
            </a:r>
          </a:p>
        </p:txBody>
      </p:sp>
      <p:pic>
        <p:nvPicPr>
          <p:cNvPr id="4" name="Picture 3" descr="bandwid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371600"/>
            <a:ext cx="7863840" cy="24111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4"/>
                </a:solidFill>
              </a:defRPr>
            </a:pPr>
            <a:r>
              <a:t>Variable 2 - Radial velocity vr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3383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F2A44"/>
                </a:solidFill>
              </a:defRPr>
            </a:pPr>
            <a:r>
              <a:t>Doppler centroid f_dc = 2 vr / lambda.</a:t>
            </a:r>
          </a:p>
          <a:p>
            <a:pPr>
              <a:spcAft>
                <a:spcPts val="600"/>
              </a:spcAft>
              <a:defRPr sz="1400">
                <a:solidFill>
                  <a:srgbClr val="1F2A44"/>
                </a:solidFill>
              </a:defRPr>
            </a:pPr>
            <a:r>
              <a:t>Shifts the target along the Doppler axis.</a:t>
            </a:r>
          </a:p>
          <a:p>
            <a:pPr>
              <a:spcAft>
                <a:spcPts val="600"/>
              </a:spcAft>
              <a:defRPr sz="1400">
                <a:solidFill>
                  <a:srgbClr val="1F2A44"/>
                </a:solidFill>
              </a:defRPr>
            </a:pPr>
            <a:r>
              <a:t>Also causes range walk (vr * T_a,proc).</a:t>
            </a:r>
          </a:p>
          <a:p>
            <a:pPr>
              <a:spcAft>
                <a:spcPts val="600"/>
              </a:spcAft>
              <a:defRPr sz="1400">
                <a:solidFill>
                  <a:srgbClr val="1F2A44"/>
                </a:solidFill>
              </a:defRPr>
            </a:pPr>
            <a:r>
              <a:t>Uncompensated -&gt; azimuth position error and smearing.</a:t>
            </a:r>
          </a:p>
        </p:txBody>
      </p:sp>
      <p:pic>
        <p:nvPicPr>
          <p:cNvPr id="4" name="Picture 3" descr="rad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371600"/>
            <a:ext cx="7863840" cy="240367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4"/>
                </a:solidFill>
              </a:defRPr>
            </a:pPr>
            <a:r>
              <a:t>Variable 3 - Antenna length 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3383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F2A44"/>
                </a:solidFill>
              </a:defRPr>
            </a:pPr>
            <a:r>
              <a:t>Azimuth resolution rho_az = lam*R0*b_a / (2*L_syn).</a:t>
            </a:r>
          </a:p>
          <a:p>
            <a:pPr>
              <a:spcAft>
                <a:spcPts val="600"/>
              </a:spcAft>
              <a:defRPr sz="1400">
                <a:solidFill>
                  <a:srgbClr val="1F2A44"/>
                </a:solidFill>
              </a:defRPr>
            </a:pPr>
            <a:r>
              <a:t>L_syn = vp*T_a,proc = synthetic aperture length.</a:t>
            </a:r>
          </a:p>
          <a:p>
            <a:pPr>
              <a:spcAft>
                <a:spcPts val="600"/>
              </a:spcAft>
              <a:defRPr sz="1400">
                <a:solidFill>
                  <a:srgbClr val="1F2A44"/>
                </a:solidFill>
              </a:defRPr>
            </a:pPr>
            <a:r>
              <a:t>Full aperture, rect: reduces to rho_az = La / 2.</a:t>
            </a:r>
          </a:p>
          <a:p>
            <a:pPr>
              <a:spcAft>
                <a:spcPts val="600"/>
              </a:spcAft>
              <a:defRPr sz="1400">
                <a:solidFill>
                  <a:srgbClr val="1F2A44"/>
                </a:solidFill>
              </a:defRPr>
            </a:pPr>
            <a:r>
              <a:t>Doppler bandwidth Bd = 2 vp / La.</a:t>
            </a:r>
          </a:p>
        </p:txBody>
      </p:sp>
      <p:pic>
        <p:nvPicPr>
          <p:cNvPr id="4" name="Picture 3" descr="anten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371600"/>
            <a:ext cx="7863840" cy="24111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4"/>
                </a:solidFill>
              </a:defRPr>
            </a:pPr>
            <a:r>
              <a:t>Variable 4 - Target along-track velocity vt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3383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F2A44"/>
                </a:solidFill>
              </a:defRPr>
            </a:pPr>
            <a:r>
              <a:t>A moving target's Doppler rate differs from the stationary filter.</a:t>
            </a:r>
          </a:p>
          <a:p>
            <a:pPr>
              <a:spcAft>
                <a:spcPts val="600"/>
              </a:spcAft>
              <a:defRPr sz="1400">
                <a:solidFill>
                  <a:srgbClr val="1F2A44"/>
                </a:solidFill>
              </a:defRPr>
            </a:pPr>
            <a:r>
              <a:t>Phase mismatch -&gt; azimuth defocus (smeared, lower peak).</a:t>
            </a:r>
          </a:p>
          <a:p>
            <a:pPr>
              <a:spcAft>
                <a:spcPts val="600"/>
              </a:spcAft>
              <a:defRPr sz="1400">
                <a:solidFill>
                  <a:srgbClr val="1F2A44"/>
                </a:solidFill>
              </a:defRPr>
            </a:pPr>
            <a:r>
              <a:t>Clarity loss; position roughly unchanged.</a:t>
            </a:r>
          </a:p>
        </p:txBody>
      </p:sp>
      <p:pic>
        <p:nvPicPr>
          <p:cNvPr id="4" name="Picture 3" descr="alongtr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371600"/>
            <a:ext cx="7863840" cy="239509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4"/>
                </a:solidFill>
              </a:defRPr>
            </a:pPr>
            <a:r>
              <a:t>Variable 5 - Processed aperture alpha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F2A44"/>
                </a:solidFill>
              </a:defRPr>
            </a:pPr>
            <a:r>
              <a:t>Fraction of the full beam-limited illumination time processed.</a:t>
            </a:r>
          </a:p>
          <a:p>
            <a:pPr>
              <a:spcAft>
                <a:spcPts val="600"/>
              </a:spcAft>
              <a:defRPr sz="1800">
                <a:solidFill>
                  <a:srgbClr val="1F2A44"/>
                </a:solidFill>
              </a:defRPr>
            </a:pPr>
            <a:r>
              <a:t>T_a,proc = alpha * Ta,   L_syn = vp * T_a,proc.</a:t>
            </a:r>
          </a:p>
          <a:p>
            <a:pPr>
              <a:spcAft>
                <a:spcPts val="600"/>
              </a:spcAft>
              <a:defRPr sz="1800">
                <a:solidFill>
                  <a:srgbClr val="1F2A44"/>
                </a:solidFill>
              </a:defRPr>
            </a:pPr>
            <a:r>
              <a:t>rho_az = lam*R0*b_a / (2*L_syn): less aperture -&gt; coarser azimuth.</a:t>
            </a:r>
          </a:p>
          <a:p>
            <a:pPr>
              <a:spcAft>
                <a:spcPts val="600"/>
              </a:spcAft>
              <a:defRPr sz="1800">
                <a:solidFill>
                  <a:srgbClr val="1F2A44"/>
                </a:solidFill>
              </a:defRPr>
            </a:pPr>
            <a:r>
              <a:t>At 100/50/25%, rho_az = 1 / 2 / 4 m.</a:t>
            </a:r>
          </a:p>
          <a:p>
            <a:pPr>
              <a:spcAft>
                <a:spcPts val="600"/>
              </a:spcAft>
              <a:defRPr sz="1800">
                <a:solidFill>
                  <a:srgbClr val="1F2A44"/>
                </a:solidFill>
              </a:defRPr>
            </a:pPr>
            <a:r>
              <a:t>Also reduces moving-target range walk.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4"/>
                </a:solidFill>
              </a:defRPr>
            </a:pPr>
            <a:r>
              <a:t>Variable 6 - SNR and speckle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3383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F2A44"/>
                </a:solidFill>
              </a:defRPr>
            </a:pPr>
            <a:r>
              <a:t>Low SNR -&gt; noise floor rises, target buried.</a:t>
            </a:r>
          </a:p>
          <a:p>
            <a:pPr>
              <a:spcAft>
                <a:spcPts val="600"/>
              </a:spcAft>
              <a:defRPr sz="1400">
                <a:solidFill>
                  <a:srgbClr val="1F2A44"/>
                </a:solidFill>
              </a:defRPr>
            </a:pPr>
            <a:r>
              <a:t>Speckle = multiplicative Rayleigh noise (grainy texture).</a:t>
            </a:r>
          </a:p>
          <a:p>
            <a:pPr>
              <a:spcAft>
                <a:spcPts val="600"/>
              </a:spcAft>
              <a:defRPr sz="1400">
                <a:solidFill>
                  <a:srgbClr val="1F2A44"/>
                </a:solidFill>
              </a:defRPr>
            </a:pPr>
            <a:r>
              <a:t>Both reduce detectability / clarity.</a:t>
            </a:r>
          </a:p>
          <a:p>
            <a:pPr>
              <a:spcAft>
                <a:spcPts val="600"/>
              </a:spcAft>
              <a:defRPr sz="1400">
                <a:solidFill>
                  <a:srgbClr val="1F2A44"/>
                </a:solidFill>
              </a:defRPr>
            </a:pPr>
            <a:r>
              <a:t>Position unaffected.</a:t>
            </a:r>
          </a:p>
        </p:txBody>
      </p:sp>
      <p:pic>
        <p:nvPicPr>
          <p:cNvPr id="4" name="Picture 3" descr="snr_speck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371600"/>
            <a:ext cx="7863840" cy="569068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4"/>
                </a:solidFill>
              </a:defRPr>
            </a:pPr>
            <a:r>
              <a:t>Results at a glance: what affects clarity vs position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4864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Variable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Affects clarity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Affects position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Key formula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Bandwidth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Range clarity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dR = c*b_r/(2B)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Radial velocity vr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Defocus if large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Doppler / azimuth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f_dc = 2vr/lambda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Antenna length 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Azimuth clarity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rho_az = lam*R0*b_a/(2*L_syn)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Processed aperture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Azimuth clarity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L_syn = vp*alpha*Ta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Along-track velocity vt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Azimuth defocus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~No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Doppler-rate mismatch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SNR / speckle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Detectability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noise floor / Rayleigh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4"/>
                </a:solidFill>
              </a:defRPr>
            </a:pPr>
            <a:r>
              <a:t>Cheat sheet: the equations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F2A44"/>
                </a:solidFill>
              </a:defRPr>
            </a:pPr>
            <a:r>
              <a:t>Slant-range resolution:  dR = c * b_r / (2B)</a:t>
            </a:r>
          </a:p>
          <a:p>
            <a:pPr>
              <a:spcAft>
                <a:spcPts val="600"/>
              </a:spcAft>
              <a:defRPr sz="1700">
                <a:solidFill>
                  <a:srgbClr val="1F2A44"/>
                </a:solidFill>
              </a:defRPr>
            </a:pPr>
            <a:r>
              <a:t>Azimuth resolution:      rho_az = lam * R0 * b_a / (2 * L_syn)</a:t>
            </a:r>
          </a:p>
          <a:p>
            <a:pPr>
              <a:spcAft>
                <a:spcPts val="600"/>
              </a:spcAft>
              <a:defRPr sz="1700">
                <a:solidFill>
                  <a:srgbClr val="1F2A44"/>
                </a:solidFill>
              </a:defRPr>
            </a:pPr>
            <a:r>
              <a:t>Synthetic aperture:      L_syn = vp * T_a,proc,  T_a,proc = alpha * Ta</a:t>
            </a:r>
          </a:p>
          <a:p>
            <a:pPr>
              <a:spcAft>
                <a:spcPts val="600"/>
              </a:spcAft>
              <a:defRPr sz="1700">
                <a:solidFill>
                  <a:srgbClr val="1F2A44"/>
                </a:solidFill>
              </a:defRPr>
            </a:pPr>
            <a:r>
              <a:t>Full aperture, rect:     rho_az = La / 2</a:t>
            </a:r>
          </a:p>
          <a:p>
            <a:pPr>
              <a:spcAft>
                <a:spcPts val="600"/>
              </a:spcAft>
              <a:defRPr sz="1700">
                <a:solidFill>
                  <a:srgbClr val="1F2A44"/>
                </a:solidFill>
              </a:defRPr>
            </a:pPr>
            <a:r>
              <a:t>Doppler bandwidth:       Bd = 2 vp / La</a:t>
            </a:r>
          </a:p>
          <a:p>
            <a:pPr>
              <a:spcAft>
                <a:spcPts val="600"/>
              </a:spcAft>
              <a:defRPr sz="1700">
                <a:solidFill>
                  <a:srgbClr val="1F2A44"/>
                </a:solidFill>
              </a:defRPr>
            </a:pPr>
            <a:r>
              <a:t>Doppler rate:            Ka = 2 vp^2 / (lambda R0)</a:t>
            </a:r>
          </a:p>
          <a:p>
            <a:pPr>
              <a:spcAft>
                <a:spcPts val="600"/>
              </a:spcAft>
              <a:defRPr sz="1700">
                <a:solidFill>
                  <a:srgbClr val="1F2A44"/>
                </a:solidFill>
              </a:defRPr>
            </a:pPr>
            <a:r>
              <a:t>Doppler centroid:        f_dc = 2 vr / lambda</a:t>
            </a:r>
          </a:p>
          <a:p>
            <a:pPr>
              <a:spcAft>
                <a:spcPts val="600"/>
              </a:spcAft>
              <a:defRPr sz="1700">
                <a:solidFill>
                  <a:srgbClr val="1F2A44"/>
                </a:solidFill>
              </a:defRPr>
            </a:pPr>
            <a:r>
              <a:t>Beamwidth:               theta = lambda / La,  Ta = R0 * theta / vp</a:t>
            </a:r>
          </a:p>
          <a:p>
            <a:pPr>
              <a:spcAft>
                <a:spcPts val="600"/>
              </a:spcAft>
              <a:defRPr sz="1700">
                <a:solidFill>
                  <a:srgbClr val="1F2A44"/>
                </a:solidFill>
              </a:defRPr>
            </a:pPr>
            <a:r>
              <a:t>Range to target:         R = c * tau / 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4"/>
                </a:solidFill>
              </a:defRPr>
            </a:pPr>
            <a:r>
              <a:t>Glossary of SAR terms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F2A44"/>
                </a:solidFill>
              </a:defRPr>
            </a:pPr>
            <a:r>
              <a:t>Range - distance to target, from echo delay.</a:t>
            </a:r>
          </a:p>
          <a:p>
            <a:pPr>
              <a:spcAft>
                <a:spcPts val="600"/>
              </a:spcAft>
              <a:defRPr sz="1200">
                <a:solidFill>
                  <a:srgbClr val="1F2A44"/>
                </a:solidFill>
              </a:defRPr>
            </a:pPr>
            <a:r>
              <a:t>Azimuth / cross-range - along-track position, from Doppler.</a:t>
            </a:r>
          </a:p>
          <a:p>
            <a:pPr>
              <a:spcAft>
                <a:spcPts val="600"/>
              </a:spcAft>
              <a:defRPr sz="1200">
                <a:solidFill>
                  <a:srgbClr val="1F2A44"/>
                </a:solidFill>
              </a:defRPr>
            </a:pPr>
            <a:r>
              <a:t>Slant-range resolution - smallest separable range, c*b_r/(2B).</a:t>
            </a:r>
          </a:p>
          <a:p>
            <a:pPr>
              <a:spcAft>
                <a:spcPts val="600"/>
              </a:spcAft>
              <a:defRPr sz="1200">
                <a:solidFill>
                  <a:srgbClr val="1F2A44"/>
                </a:solidFill>
              </a:defRPr>
            </a:pPr>
            <a:r>
              <a:t>Azimuth resolution - smallest separable along-track distance, lam*R0*b_a/(2*L_syn).</a:t>
            </a:r>
          </a:p>
          <a:p>
            <a:pPr>
              <a:spcAft>
                <a:spcPts val="600"/>
              </a:spcAft>
              <a:defRPr sz="1200">
                <a:solidFill>
                  <a:srgbClr val="1F2A44"/>
                </a:solidFill>
              </a:defRPr>
            </a:pPr>
            <a:r>
              <a:t>IPR - impulse response; the focused shape of a point target.</a:t>
            </a:r>
          </a:p>
          <a:p>
            <a:pPr>
              <a:spcAft>
                <a:spcPts val="600"/>
              </a:spcAft>
              <a:defRPr sz="1200">
                <a:solidFill>
                  <a:srgbClr val="1F2A44"/>
                </a:solidFill>
              </a:defRPr>
            </a:pPr>
            <a:r>
              <a:t>Window broadening factor - how much a taper widens the mainlobe (~1.3 Hann).</a:t>
            </a:r>
          </a:p>
          <a:p>
            <a:pPr>
              <a:spcAft>
                <a:spcPts val="600"/>
              </a:spcAft>
              <a:defRPr sz="1200">
                <a:solidFill>
                  <a:srgbClr val="1F2A44"/>
                </a:solidFill>
              </a:defRPr>
            </a:pPr>
            <a:r>
              <a:t>Synthetic aperture L_syn - along-track extent of coherent observation.</a:t>
            </a:r>
          </a:p>
          <a:p>
            <a:pPr>
              <a:spcAft>
                <a:spcPts val="600"/>
              </a:spcAft>
              <a:defRPr sz="1200">
                <a:solidFill>
                  <a:srgbClr val="1F2A44"/>
                </a:solidFill>
              </a:defRPr>
            </a:pPr>
            <a:r>
              <a:t>Processed aperture alpha - fraction of the illumination time used.</a:t>
            </a:r>
          </a:p>
          <a:p>
            <a:pPr>
              <a:spcAft>
                <a:spcPts val="600"/>
              </a:spcAft>
              <a:defRPr sz="1200">
                <a:solidFill>
                  <a:srgbClr val="1F2A44"/>
                </a:solidFill>
              </a:defRPr>
            </a:pPr>
            <a:r>
              <a:t>Slant range R0 - straight-line distance from radar to target.</a:t>
            </a:r>
          </a:p>
          <a:p>
            <a:pPr>
              <a:spcAft>
                <a:spcPts val="600"/>
              </a:spcAft>
              <a:defRPr sz="1200">
                <a:solidFill>
                  <a:srgbClr val="1F2A44"/>
                </a:solidFill>
              </a:defRPr>
            </a:pPr>
            <a:r>
              <a:t>Chirp - a pulse whose frequency sweeps over time.</a:t>
            </a:r>
          </a:p>
          <a:p>
            <a:pPr>
              <a:spcAft>
                <a:spcPts val="600"/>
              </a:spcAft>
              <a:defRPr sz="1200">
                <a:solidFill>
                  <a:srgbClr val="1F2A44"/>
                </a:solidFill>
              </a:defRPr>
            </a:pPr>
            <a:r>
              <a:t>Pulse / range compression - matched filtering that sharpens echoes in range.</a:t>
            </a:r>
          </a:p>
          <a:p>
            <a:pPr>
              <a:spcAft>
                <a:spcPts val="600"/>
              </a:spcAft>
              <a:defRPr sz="1200">
                <a:solidFill>
                  <a:srgbClr val="1F2A44"/>
                </a:solidFill>
              </a:defRPr>
            </a:pPr>
            <a:r>
              <a:t>Doppler history - the changing echo frequency as the platform passes the target.</a:t>
            </a:r>
          </a:p>
          <a:p>
            <a:pPr>
              <a:spcAft>
                <a:spcPts val="600"/>
              </a:spcAft>
              <a:defRPr sz="1200">
                <a:solidFill>
                  <a:srgbClr val="1F2A44"/>
                </a:solidFill>
              </a:defRPr>
            </a:pPr>
            <a:r>
              <a:t>Doppler centroid - the mean Doppler shift (zero for a still target broadside).</a:t>
            </a:r>
          </a:p>
          <a:p>
            <a:pPr>
              <a:spcAft>
                <a:spcPts val="600"/>
              </a:spcAft>
              <a:defRPr sz="1200">
                <a:solidFill>
                  <a:srgbClr val="1F2A44"/>
                </a:solidFill>
              </a:defRPr>
            </a:pPr>
            <a:r>
              <a:t>PRF - pulses per second; must be high enough to sample the Doppler.</a:t>
            </a:r>
          </a:p>
          <a:p>
            <a:pPr>
              <a:spcAft>
                <a:spcPts val="600"/>
              </a:spcAft>
              <a:defRPr sz="1200">
                <a:solidFill>
                  <a:srgbClr val="1F2A44"/>
                </a:solidFill>
              </a:defRPr>
            </a:pPr>
            <a:r>
              <a:t>RDA (Range-Doppler Algorithm) - process range first, then azimuth via Doppler.</a:t>
            </a:r>
          </a:p>
          <a:p>
            <a:pPr>
              <a:spcAft>
                <a:spcPts val="600"/>
              </a:spcAft>
              <a:defRPr sz="1200">
                <a:solidFill>
                  <a:srgbClr val="1F2A44"/>
                </a:solidFill>
              </a:defRPr>
            </a:pPr>
            <a:r>
              <a:t>Speckle - grainy noise from many small scatterers in one resolution cell.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4"/>
                </a:solidFill>
              </a:defRPr>
            </a:pPr>
            <a:r>
              <a:t>Key takeaways &amp; how to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F2A44"/>
                </a:solidFill>
              </a:defRPr>
            </a:pPr>
            <a:r>
              <a:t>Range clarity is set by BANDWIDTH; azimuth clarity by ANTENNA LENGTH.</a:t>
            </a:r>
          </a:p>
          <a:p>
            <a:pPr>
              <a:spcAft>
                <a:spcPts val="600"/>
              </a:spcAft>
              <a:defRPr sz="1800">
                <a:solidFill>
                  <a:srgbClr val="1F2A44"/>
                </a:solidFill>
              </a:defRPr>
            </a:pPr>
            <a:r>
              <a:t>Radial velocity moves the target's Doppler/azimuth POSITION; large values defocus.</a:t>
            </a:r>
          </a:p>
          <a:p>
            <a:pPr>
              <a:spcAft>
                <a:spcPts val="600"/>
              </a:spcAft>
              <a:defRPr sz="1800">
                <a:solidFill>
                  <a:srgbClr val="1F2A44"/>
                </a:solidFill>
              </a:defRPr>
            </a:pPr>
            <a:r>
              <a:t>Along-track velocity and noise degrade CLARITY, not position.</a:t>
            </a:r>
          </a:p>
          <a:p>
            <a:pPr>
              <a:spcAft>
                <a:spcPts val="600"/>
              </a:spcAft>
              <a:defRPr sz="1800">
                <a:solidFill>
                  <a:srgbClr val="1F2A44"/>
                </a:solidFill>
              </a:defRPr>
            </a:pPr>
            <a:r>
              <a:t>The app applies the azimuth filter in the Doppler domain (the RDA), keeping updates real-time.</a:t>
            </a:r>
          </a:p>
          <a:p>
            <a:pPr>
              <a:spcAft>
                <a:spcPts val="600"/>
              </a:spcAft>
              <a:defRPr sz="1800">
                <a:solidFill>
                  <a:srgbClr val="1F2A44"/>
                </a:solidFill>
              </a:defRPr>
            </a:pPr>
            <a:r>
              <a:t>Run it:  .venv/bin/python range_doppler_interactive.py</a:t>
            </a:r>
          </a:p>
          <a:p>
            <a:pPr>
              <a:spcAft>
                <a:spcPts val="600"/>
              </a:spcAft>
              <a:defRPr sz="1800">
                <a:solidFill>
                  <a:srgbClr val="1F2A44"/>
                </a:solidFill>
              </a:defRPr>
            </a:pPr>
            <a:r>
              <a:t>Web version:  .venv/bin/streamlit run app.py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